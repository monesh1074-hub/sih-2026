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Oswald" panose="00000500000000000000" pitchFamily="2" charset="0"/>
      <p:regular r:id="rId13"/>
      <p:bold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orqEx/ILrjzXw9e1Jp39NPfKP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ai4bharat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huvan.nrsc.gov.in/" TargetMode="External"/><Relationship Id="rId5" Type="http://schemas.openxmlformats.org/officeDocument/2006/relationships/hyperlink" Target="https://ngdrs.gov.in/" TargetMode="External"/><Relationship Id="rId4" Type="http://schemas.openxmlformats.org/officeDocument/2006/relationships/hyperlink" Target="https://dilrmp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576566" y="2076456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234461" y="-223882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57550" y="1658200"/>
            <a:ext cx="11076900" cy="464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lang="en-IN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26018</a:t>
            </a:r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endParaRPr dirty="0"/>
          </a:p>
          <a:p>
            <a:pPr marL="285750" lvl="0" indent="-28575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 Title -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IN" sz="2400" b="1" dirty="0"/>
              <a:t>Intelligent Land Record Digitization and Validation System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>
                <a:solidFill>
                  <a:srgbClr val="212529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endParaRPr sz="2400" b="1" dirty="0">
              <a:solidFill>
                <a:schemeClr val="dk1"/>
              </a:solidFill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 - S</a:t>
            </a:r>
            <a:r>
              <a:rPr lang="en-US" sz="2400" b="1" dirty="0">
                <a:solidFill>
                  <a:schemeClr val="dk1"/>
                </a:solidFill>
              </a:rPr>
              <a:t>mart Automation</a:t>
            </a:r>
            <a:endParaRPr sz="2400" b="1" dirty="0">
              <a:solidFill>
                <a:schemeClr val="dk1"/>
              </a:solidFill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 -</a:t>
            </a:r>
            <a:r>
              <a:rPr lang="en-US" sz="2400" b="1" dirty="0">
                <a:solidFill>
                  <a:schemeClr val="dk1"/>
                </a:solidFill>
              </a:rPr>
              <a:t>software</a:t>
            </a:r>
            <a:endParaRPr dirty="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 - </a:t>
            </a:r>
            <a:endParaRPr dirty="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lang="en-US" sz="2400" b="1" dirty="0">
                <a:solidFill>
                  <a:schemeClr val="dk1"/>
                </a:solidFill>
              </a:rPr>
              <a:t>– Terra Vault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43086" y="13389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2" descr="Your startup LOGO"/>
          <p:cNvSpPr/>
          <p:nvPr/>
        </p:nvSpPr>
        <p:spPr>
          <a:xfrm>
            <a:off x="162064" y="188580"/>
            <a:ext cx="1686614" cy="96502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TerraVault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2BB7B5-F264-631D-7B3F-90A2FF776003}"/>
              </a:ext>
            </a:extLst>
          </p:cNvPr>
          <p:cNvSpPr txBox="1"/>
          <p:nvPr/>
        </p:nvSpPr>
        <p:spPr>
          <a:xfrm>
            <a:off x="4411318" y="307497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CB0BA-AB6B-706A-4AD6-A17AFA45DA3C}"/>
              </a:ext>
            </a:extLst>
          </p:cNvPr>
          <p:cNvSpPr txBox="1"/>
          <p:nvPr/>
        </p:nvSpPr>
        <p:spPr>
          <a:xfrm>
            <a:off x="377689" y="1574812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IDEA / SOLUTION :</a:t>
            </a:r>
            <a:endParaRPr lang="en-IN" sz="17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97CE7-D542-B43C-C2F1-256E01FEAC04}"/>
              </a:ext>
            </a:extLst>
          </p:cNvPr>
          <p:cNvSpPr/>
          <p:nvPr/>
        </p:nvSpPr>
        <p:spPr>
          <a:xfrm>
            <a:off x="255640" y="1249375"/>
            <a:ext cx="5973416" cy="4932750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02266D-E78C-B27D-38D8-BA3E0D6C07E5}"/>
              </a:ext>
            </a:extLst>
          </p:cNvPr>
          <p:cNvSpPr txBox="1"/>
          <p:nvPr/>
        </p:nvSpPr>
        <p:spPr>
          <a:xfrm>
            <a:off x="344702" y="1932163"/>
            <a:ext cx="571831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/>
              <a:t>Implementation of an </a:t>
            </a:r>
            <a:r>
              <a:rPr lang="en-IN" sz="1500" b="1" dirty="0"/>
              <a:t>AI-powered Multilingual Land Record Digitization and Automated Cross-Validation Framework</a:t>
            </a:r>
            <a:r>
              <a:rPr lang="en-IN" sz="1500" dirty="0"/>
              <a:t> for legacy paper documents, handwritten registers, and cadastral maps.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CB2DF-34A4-BB8B-6868-8487CCB7B21A}"/>
              </a:ext>
            </a:extLst>
          </p:cNvPr>
          <p:cNvSpPr txBox="1"/>
          <p:nvPr/>
        </p:nvSpPr>
        <p:spPr>
          <a:xfrm>
            <a:off x="486930" y="3085988"/>
            <a:ext cx="5553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Multilingual Indic OCR/HTR Engine</a:t>
            </a:r>
            <a:r>
              <a:rPr lang="en-IN" dirty="0"/>
              <a:t> for handwritten registers &amp; </a:t>
            </a:r>
          </a:p>
          <a:p>
            <a:r>
              <a:rPr lang="en-IN" dirty="0"/>
              <a:t>scanned PDFs across </a:t>
            </a:r>
            <a:r>
              <a:rPr lang="en-IN" b="1" dirty="0"/>
              <a:t>10+ regional Indian languages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40F84E-A84B-DDD0-744C-E5489975F716}"/>
              </a:ext>
            </a:extLst>
          </p:cNvPr>
          <p:cNvSpPr txBox="1"/>
          <p:nvPr/>
        </p:nvSpPr>
        <p:spPr>
          <a:xfrm>
            <a:off x="521810" y="3686949"/>
            <a:ext cx="5041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 err="1"/>
              <a:t>LayoutLM</a:t>
            </a:r>
            <a:r>
              <a:rPr lang="en-IN" b="1" dirty="0"/>
              <a:t>-driven entity parsing</a:t>
            </a:r>
            <a:r>
              <a:rPr lang="en-IN" dirty="0"/>
              <a:t> automatically extracts </a:t>
            </a:r>
          </a:p>
          <a:p>
            <a:r>
              <a:rPr lang="en-IN" dirty="0" err="1"/>
              <a:t>Khasra</a:t>
            </a:r>
            <a:r>
              <a:rPr lang="en-IN" dirty="0"/>
              <a:t>, </a:t>
            </a:r>
            <a:r>
              <a:rPr lang="en-IN" dirty="0" err="1"/>
              <a:t>Khata</a:t>
            </a:r>
            <a:r>
              <a:rPr lang="en-IN" dirty="0"/>
              <a:t>, Survey No., Landowner details, and Plot Area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6B281-A8EE-C934-84CF-92E50992EF4A}"/>
              </a:ext>
            </a:extLst>
          </p:cNvPr>
          <p:cNvSpPr txBox="1"/>
          <p:nvPr/>
        </p:nvSpPr>
        <p:spPr>
          <a:xfrm>
            <a:off x="465289" y="4280541"/>
            <a:ext cx="5626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❖ </a:t>
            </a:r>
            <a:r>
              <a:rPr lang="en-IN" b="1" dirty="0"/>
              <a:t>Automated business-rule validation engine</a:t>
            </a:r>
            <a:r>
              <a:rPr lang="en-IN" dirty="0"/>
              <a:t> performing cross-</a:t>
            </a:r>
          </a:p>
          <a:p>
            <a:r>
              <a:rPr lang="en-IN" dirty="0"/>
              <a:t>database verification against central </a:t>
            </a:r>
            <a:r>
              <a:rPr lang="en-IN" b="1" dirty="0"/>
              <a:t>DILRMP &amp; state LRMS portals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209D21-FBAD-F5B1-99B8-2F942F2BE463}"/>
              </a:ext>
            </a:extLst>
          </p:cNvPr>
          <p:cNvSpPr txBox="1"/>
          <p:nvPr/>
        </p:nvSpPr>
        <p:spPr>
          <a:xfrm>
            <a:off x="450060" y="4843891"/>
            <a:ext cx="5723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❖ </a:t>
            </a:r>
            <a:r>
              <a:rPr lang="en-IN" b="1" dirty="0"/>
              <a:t>Human-in-the-Loop (HITL) review GUI</a:t>
            </a:r>
            <a:r>
              <a:rPr lang="en-IN" dirty="0"/>
              <a:t> with field-level confidence </a:t>
            </a:r>
          </a:p>
          <a:p>
            <a:r>
              <a:rPr lang="en-IN" dirty="0"/>
              <a:t>scoring for zero-error verification of low-confidence records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734847-3A00-085A-B78E-3E8DB4DB2058}"/>
              </a:ext>
            </a:extLst>
          </p:cNvPr>
          <p:cNvSpPr txBox="1"/>
          <p:nvPr/>
        </p:nvSpPr>
        <p:spPr>
          <a:xfrm>
            <a:off x="486930" y="5447371"/>
            <a:ext cx="5583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Vectorized Cadastral Map georeferencing</a:t>
            </a:r>
            <a:r>
              <a:rPr lang="en-IN" dirty="0"/>
              <a:t> integrating extracted</a:t>
            </a:r>
          </a:p>
          <a:p>
            <a:r>
              <a:rPr lang="en-IN" dirty="0"/>
              <a:t> survey boundaries directly into </a:t>
            </a:r>
            <a:r>
              <a:rPr lang="en-IN" b="1" dirty="0"/>
              <a:t>GIS &amp; Bhu-Aadhaar (ULPIN)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5CFDAE-0D81-6474-3058-CBFBCF0DCDDA}"/>
              </a:ext>
            </a:extLst>
          </p:cNvPr>
          <p:cNvSpPr/>
          <p:nvPr/>
        </p:nvSpPr>
        <p:spPr>
          <a:xfrm>
            <a:off x="6475345" y="1236474"/>
            <a:ext cx="5554591" cy="1832439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7ECDE8-F0E5-A5C2-B4D8-1BC28CDFEA5A}"/>
              </a:ext>
            </a:extLst>
          </p:cNvPr>
          <p:cNvSpPr txBox="1"/>
          <p:nvPr/>
        </p:nvSpPr>
        <p:spPr>
          <a:xfrm>
            <a:off x="6521681" y="1299930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Problem Resolution 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6112AA-576C-00C6-3943-E85A4916EDDE}"/>
              </a:ext>
            </a:extLst>
          </p:cNvPr>
          <p:cNvSpPr txBox="1"/>
          <p:nvPr/>
        </p:nvSpPr>
        <p:spPr>
          <a:xfrm>
            <a:off x="6670101" y="1591585"/>
            <a:ext cx="5506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Eliminates manual entry bottlenecks and errors</a:t>
            </a:r>
            <a:r>
              <a:rPr lang="en-IN" dirty="0"/>
              <a:t>, digitizing historical handwritten and damaged land records with </a:t>
            </a:r>
            <a:r>
              <a:rPr lang="en-IN" b="1" dirty="0"/>
              <a:t>99.5%+ verified accuracy</a:t>
            </a:r>
            <a:r>
              <a:rPr lang="en-IN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FEB443-ACA1-115C-2F9E-C74FCDCEA671}"/>
              </a:ext>
            </a:extLst>
          </p:cNvPr>
          <p:cNvSpPr txBox="1"/>
          <p:nvPr/>
        </p:nvSpPr>
        <p:spPr>
          <a:xfrm>
            <a:off x="6670100" y="2296272"/>
            <a:ext cx="5506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Resolves legacy land ownership disputes</a:t>
            </a:r>
            <a:r>
              <a:rPr lang="en-IN" dirty="0"/>
              <a:t> by cross-referencing mutation </a:t>
            </a:r>
            <a:r>
              <a:rPr lang="en-IN" dirty="0" err="1"/>
              <a:t>records,preventing</a:t>
            </a:r>
            <a:r>
              <a:rPr lang="en-IN" dirty="0"/>
              <a:t> duplicate entries, and streamlining citizen service delivery.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0E8A47-520D-3C9D-E4FB-1160C191A78C}"/>
              </a:ext>
            </a:extLst>
          </p:cNvPr>
          <p:cNvSpPr/>
          <p:nvPr/>
        </p:nvSpPr>
        <p:spPr>
          <a:xfrm>
            <a:off x="6475345" y="3184610"/>
            <a:ext cx="5554591" cy="2997515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5CB862-5B6C-F70F-47A4-7BBE7DC0325E}"/>
              </a:ext>
            </a:extLst>
          </p:cNvPr>
          <p:cNvSpPr txBox="1"/>
          <p:nvPr/>
        </p:nvSpPr>
        <p:spPr>
          <a:xfrm>
            <a:off x="6521681" y="3205693"/>
            <a:ext cx="3724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Unique Value Propositions (UVP) 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719C5A-7C22-9B8F-A751-83E098073304}"/>
              </a:ext>
            </a:extLst>
          </p:cNvPr>
          <p:cNvSpPr txBox="1"/>
          <p:nvPr/>
        </p:nvSpPr>
        <p:spPr>
          <a:xfrm>
            <a:off x="6670100" y="3546511"/>
            <a:ext cx="5000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Indic-HTR Transformer Model</a:t>
            </a:r>
            <a:r>
              <a:rPr lang="en-IN" dirty="0"/>
              <a:t> specialized in recognizing</a:t>
            </a:r>
          </a:p>
          <a:p>
            <a:r>
              <a:rPr lang="en-IN" dirty="0"/>
              <a:t> vintage scripts, faded ink, and regional handwritten dialects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3788ED-4D32-28BF-B0B7-B08C3BC4982F}"/>
              </a:ext>
            </a:extLst>
          </p:cNvPr>
          <p:cNvSpPr txBox="1"/>
          <p:nvPr/>
        </p:nvSpPr>
        <p:spPr>
          <a:xfrm>
            <a:off x="6685270" y="4004145"/>
            <a:ext cx="5134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Active Learning Retraining Loop</a:t>
            </a:r>
            <a:r>
              <a:rPr lang="en-IN" dirty="0"/>
              <a:t> that continuously learns </a:t>
            </a:r>
          </a:p>
          <a:p>
            <a:r>
              <a:rPr lang="en-IN" dirty="0"/>
              <a:t>from human verifiers to boost accuracy over time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51D62F-6FE1-BF16-B24B-DEB4D1D0DD31}"/>
              </a:ext>
            </a:extLst>
          </p:cNvPr>
          <p:cNvSpPr txBox="1"/>
          <p:nvPr/>
        </p:nvSpPr>
        <p:spPr>
          <a:xfrm>
            <a:off x="6675690" y="4488074"/>
            <a:ext cx="4879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Real-Time Cross-Database Validation API</a:t>
            </a:r>
            <a:r>
              <a:rPr lang="en-IN" dirty="0"/>
              <a:t> connecting </a:t>
            </a:r>
          </a:p>
          <a:p>
            <a:r>
              <a:rPr lang="en-IN" dirty="0"/>
              <a:t>DILRMP, NGDRS, and State Revenue registries instantly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0E01D0-14D4-60C3-0EC0-D327952D5431}"/>
              </a:ext>
            </a:extLst>
          </p:cNvPr>
          <p:cNvSpPr txBox="1"/>
          <p:nvPr/>
        </p:nvSpPr>
        <p:spPr>
          <a:xfrm>
            <a:off x="6670100" y="4942059"/>
            <a:ext cx="5456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Interactive State &amp; District Executive Dashboards</a:t>
            </a:r>
            <a:r>
              <a:rPr lang="en-IN" dirty="0"/>
              <a:t> for </a:t>
            </a:r>
          </a:p>
          <a:p>
            <a:r>
              <a:rPr lang="en-IN" dirty="0"/>
              <a:t>tracking digitization metrics, error statistics, and pending approvals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E31478-DD0E-6CB5-931D-9A26C30FE012}"/>
              </a:ext>
            </a:extLst>
          </p:cNvPr>
          <p:cNvSpPr txBox="1"/>
          <p:nvPr/>
        </p:nvSpPr>
        <p:spPr>
          <a:xfrm>
            <a:off x="6670100" y="5416848"/>
            <a:ext cx="61213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End-to-End Security &amp; Immutable Audit Logging</a:t>
            </a:r>
            <a:r>
              <a:rPr lang="en-IN" dirty="0"/>
              <a:t> ensuring </a:t>
            </a:r>
          </a:p>
          <a:p>
            <a:r>
              <a:rPr lang="en-IN" dirty="0"/>
              <a:t>tamper-proof metadata management with Role-Based Access </a:t>
            </a:r>
          </a:p>
          <a:p>
            <a:r>
              <a:rPr lang="en-IN" dirty="0"/>
              <a:t>Control (RBAC)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609599" y="-3681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3600" dirty="0"/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8" name="Google Shape;128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9;p3" descr="Your startup LOGO">
            <a:extLst>
              <a:ext uri="{FF2B5EF4-FFF2-40B4-BE49-F238E27FC236}">
                <a16:creationId xmlns:a16="http://schemas.microsoft.com/office/drawing/2014/main" id="{F01937A2-C104-CFB3-E3C4-C67ACA3C65F4}"/>
              </a:ext>
            </a:extLst>
          </p:cNvPr>
          <p:cNvSpPr/>
          <p:nvPr/>
        </p:nvSpPr>
        <p:spPr>
          <a:xfrm>
            <a:off x="162064" y="94475"/>
            <a:ext cx="1659835" cy="90055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TerraVault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D4ED71A-33CA-C390-5FFE-FACC97473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638294"/>
              </p:ext>
            </p:extLst>
          </p:nvPr>
        </p:nvGraphicFramePr>
        <p:xfrm>
          <a:off x="248478" y="1550853"/>
          <a:ext cx="5532779" cy="443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285">
                  <a:extLst>
                    <a:ext uri="{9D8B030D-6E8A-4147-A177-3AD203B41FA5}">
                      <a16:colId xmlns:a16="http://schemas.microsoft.com/office/drawing/2014/main" val="943091027"/>
                    </a:ext>
                  </a:extLst>
                </a:gridCol>
                <a:gridCol w="1775916">
                  <a:extLst>
                    <a:ext uri="{9D8B030D-6E8A-4147-A177-3AD203B41FA5}">
                      <a16:colId xmlns:a16="http://schemas.microsoft.com/office/drawing/2014/main" val="3579151041"/>
                    </a:ext>
                  </a:extLst>
                </a:gridCol>
                <a:gridCol w="1944578">
                  <a:extLst>
                    <a:ext uri="{9D8B030D-6E8A-4147-A177-3AD203B41FA5}">
                      <a16:colId xmlns:a16="http://schemas.microsoft.com/office/drawing/2014/main" val="1183624215"/>
                    </a:ext>
                  </a:extLst>
                </a:gridCol>
              </a:tblGrid>
              <a:tr h="716742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1" i="0" dirty="0">
                          <a:solidFill>
                            <a:srgbClr val="CCCCCC"/>
                          </a:solidFill>
                          <a:effectLst/>
                          <a:latin typeface="+mj-lt"/>
                        </a:rPr>
                        <a:t>Component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1" i="0" dirty="0">
                          <a:solidFill>
                            <a:srgbClr val="CCCCCC"/>
                          </a:solidFill>
                          <a:effectLst/>
                          <a:latin typeface="+mj-lt"/>
                        </a:rPr>
                        <a:t>Technology 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1" i="0" dirty="0">
                          <a:solidFill>
                            <a:srgbClr val="CCCCCC"/>
                          </a:solidFill>
                          <a:effectLst/>
                          <a:latin typeface="+mj-lt"/>
                        </a:rPr>
                        <a:t>Key 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927501"/>
                  </a:ext>
                </a:extLst>
              </a:tr>
              <a:tr h="79529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1" i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Document CV &amp; Preprocessing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OpenCV, Real-ESRGAN, PIL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Image deskewing, binarization &amp; noise cleanup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214034"/>
                  </a:ext>
                </a:extLst>
              </a:tr>
              <a:tr h="703282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1" i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Multilingual Indic OCR / HTR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TrOCR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, LayoutLMv3, Indic-BERT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Multilingual printed &amp; handwritten text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500846"/>
                  </a:ext>
                </a:extLst>
              </a:tr>
              <a:tr h="694958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1" i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Rule Engine &amp; Validation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FastAPI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, Celery,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PyDantic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0" i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DILRMP / LRMS cross-verification &amp; duplicate check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365244"/>
                  </a:ext>
                </a:extLst>
              </a:tr>
              <a:tr h="718538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1" i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GIS &amp; Cadastral Mapping</a:t>
                      </a:r>
                      <a:endParaRPr lang="en-IN" sz="1400" b="0" i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GeoServer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, </a:t>
                      </a:r>
                      <a:r>
                        <a:rPr lang="en-IN" sz="1400" b="0" i="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PostGIS</a:t>
                      </a: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, Bhuvan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Map vectorization &amp; Bhu-Aadhaar (ULPIN) overlay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971461"/>
                  </a:ext>
                </a:extLst>
              </a:tr>
              <a:tr h="625137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1" i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Web UI &amp; Security</a:t>
                      </a:r>
                      <a:endParaRPr lang="en-IN" sz="1400" b="0" i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React.js, PostgreSQL, Docker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Human-in-the-Loop review &amp; secure cloud backend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73127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2899745-BD7F-4B14-E1B6-04DB54F3B160}"/>
              </a:ext>
            </a:extLst>
          </p:cNvPr>
          <p:cNvSpPr txBox="1"/>
          <p:nvPr/>
        </p:nvSpPr>
        <p:spPr>
          <a:xfrm>
            <a:off x="62443" y="1106190"/>
            <a:ext cx="35189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chemeClr val="bg2"/>
                </a:solidFill>
              </a:rPr>
              <a:t>Component-Wise Technology:</a:t>
            </a:r>
            <a:endParaRPr lang="en-IN" sz="1800" dirty="0">
              <a:solidFill>
                <a:schemeClr val="bg2"/>
              </a:solidFill>
            </a:endParaRP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4B931F-BB71-2ACF-B3B9-CEA0AFC1B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781" y="1529677"/>
            <a:ext cx="6116155" cy="44804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F2D3EAC-62BA-B778-CAB7-65B1147FA7A6}"/>
              </a:ext>
            </a:extLst>
          </p:cNvPr>
          <p:cNvSpPr txBox="1"/>
          <p:nvPr/>
        </p:nvSpPr>
        <p:spPr>
          <a:xfrm>
            <a:off x="6067638" y="1146750"/>
            <a:ext cx="53399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chemeClr val="bg2"/>
                </a:solidFill>
              </a:rPr>
              <a:t>Methodology and Process for Implementation :</a:t>
            </a:r>
          </a:p>
          <a:p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1815D1-AEEC-8D0F-4A35-94DABBC2C01A}"/>
              </a:ext>
            </a:extLst>
          </p:cNvPr>
          <p:cNvSpPr/>
          <p:nvPr/>
        </p:nvSpPr>
        <p:spPr>
          <a:xfrm>
            <a:off x="6067637" y="1106190"/>
            <a:ext cx="5962297" cy="5026251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5828F8-A266-A972-C5D2-6E2F6B609D2B}"/>
              </a:ext>
            </a:extLst>
          </p:cNvPr>
          <p:cNvSpPr/>
          <p:nvPr/>
        </p:nvSpPr>
        <p:spPr>
          <a:xfrm>
            <a:off x="62443" y="1106189"/>
            <a:ext cx="5851338" cy="5026253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609599" y="5321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dirty="0"/>
          </a:p>
        </p:txBody>
      </p:sp>
      <p:sp>
        <p:nvSpPr>
          <p:cNvPr id="139" name="Google Shape;139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4" descr="Your startup LOGO"/>
          <p:cNvSpPr/>
          <p:nvPr/>
        </p:nvSpPr>
        <p:spPr>
          <a:xfrm>
            <a:off x="162064" y="153344"/>
            <a:ext cx="1658053" cy="91049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TerraVault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C5789E-EDE4-24AC-083E-C5D55D3A3CC6}"/>
              </a:ext>
            </a:extLst>
          </p:cNvPr>
          <p:cNvSpPr txBox="1"/>
          <p:nvPr/>
        </p:nvSpPr>
        <p:spPr>
          <a:xfrm>
            <a:off x="82549" y="1090061"/>
            <a:ext cx="63281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bg2"/>
                </a:solidFill>
              </a:rPr>
              <a:t>Feasibility Analysis, Potential Challenges &amp; Mitigation:</a:t>
            </a: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05E066-DE68-3AAE-AB70-B4B7F09EF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473122"/>
              </p:ext>
            </p:extLst>
          </p:nvPr>
        </p:nvGraphicFramePr>
        <p:xfrm>
          <a:off x="5650396" y="1659100"/>
          <a:ext cx="6174407" cy="4226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291">
                  <a:extLst>
                    <a:ext uri="{9D8B030D-6E8A-4147-A177-3AD203B41FA5}">
                      <a16:colId xmlns:a16="http://schemas.microsoft.com/office/drawing/2014/main" val="6089564"/>
                    </a:ext>
                  </a:extLst>
                </a:gridCol>
                <a:gridCol w="3074116">
                  <a:extLst>
                    <a:ext uri="{9D8B030D-6E8A-4147-A177-3AD203B41FA5}">
                      <a16:colId xmlns:a16="http://schemas.microsoft.com/office/drawing/2014/main" val="2921385002"/>
                    </a:ext>
                  </a:extLst>
                </a:gridCol>
              </a:tblGrid>
              <a:tr h="702353">
                <a:tc>
                  <a:txBody>
                    <a:bodyPr/>
                    <a:lstStyle/>
                    <a:p>
                      <a:pPr algn="l">
                        <a:spcBef>
                          <a:spcPts val="1125"/>
                        </a:spcBef>
                        <a:buNone/>
                      </a:pPr>
                      <a:r>
                        <a:rPr lang="en-IN" sz="1600" b="1" i="0" dirty="0">
                          <a:solidFill>
                            <a:srgbClr val="0F172A"/>
                          </a:solidFill>
                          <a:effectLst/>
                          <a:latin typeface="Segoe UI" panose="020B0502040204020203" pitchFamily="34" charset="0"/>
                        </a:rPr>
                        <a:t>Potential Challenges &amp; Risks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125"/>
                        </a:spcBef>
                        <a:buNone/>
                      </a:pPr>
                      <a:r>
                        <a:rPr lang="en-IN" sz="1600" b="1" i="0" dirty="0">
                          <a:solidFill>
                            <a:srgbClr val="0F172A"/>
                          </a:solidFill>
                          <a:effectLst/>
                          <a:latin typeface="Segoe UI" panose="020B0502040204020203" pitchFamily="34" charset="0"/>
                        </a:rPr>
                        <a:t>Strategies for Overcoming Challenges</a:t>
                      </a: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3522047046"/>
                  </a:ext>
                </a:extLst>
              </a:tr>
              <a:tr h="851481">
                <a:tc>
                  <a:txBody>
                    <a:bodyPr/>
                    <a:lstStyle/>
                    <a:p>
                      <a:pPr algn="l">
                        <a:spcBef>
                          <a:spcPts val="1125"/>
                        </a:spcBef>
                        <a:buNone/>
                      </a:pPr>
                      <a:r>
                        <a:rPr lang="en-IN" sz="1200" b="1" i="0" dirty="0">
                          <a:solidFill>
                            <a:srgbClr val="991B1B"/>
                          </a:solidFill>
                          <a:effectLst/>
                          <a:latin typeface="Segoe UI" panose="020B0502040204020203" pitchFamily="34" charset="0"/>
                        </a:rPr>
                        <a:t>1. Damaged &amp; Faded Legacy Registers</a:t>
                      </a:r>
                      <a:br>
                        <a:rPr lang="en-IN" sz="1200" b="1" i="0" dirty="0">
                          <a:solidFill>
                            <a:srgbClr val="991B1B"/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IN" sz="1200" b="1" i="0" dirty="0">
                          <a:solidFill>
                            <a:srgbClr val="991B1B"/>
                          </a:solidFill>
                          <a:effectLst/>
                          <a:latin typeface="Segoe UI" panose="020B0502040204020203" pitchFamily="34" charset="0"/>
                        </a:rPr>
                        <a:t>Poor scan quality, ink bleed, physical paper wear.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125"/>
                        </a:spcBef>
                        <a:buNone/>
                      </a:pPr>
                      <a:r>
                        <a:rPr lang="en-IN" sz="1200" b="1" i="0">
                          <a:solidFill>
                            <a:srgbClr val="065F46"/>
                          </a:solidFill>
                          <a:effectLst/>
                          <a:latin typeface="Segoe UI" panose="020B0502040204020203" pitchFamily="34" charset="0"/>
                        </a:rPr>
                        <a:t>AI Super-Resolution &amp; Preprocessing:</a:t>
                      </a:r>
                      <a:r>
                        <a:rPr lang="en-IN" sz="1200" b="0" i="0">
                          <a:solidFill>
                            <a:srgbClr val="065F46"/>
                          </a:solidFill>
                          <a:effectLst/>
                          <a:latin typeface="Segoe UI" panose="020B0502040204020203" pitchFamily="34" charset="0"/>
                        </a:rPr>
                        <a:t> Real-ESRGAN &amp; adaptive binarization restore faded ink before OCR.</a:t>
                      </a: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1689226943"/>
                  </a:ext>
                </a:extLst>
              </a:tr>
              <a:tr h="851481">
                <a:tc>
                  <a:txBody>
                    <a:bodyPr/>
                    <a:lstStyle/>
                    <a:p>
                      <a:pPr algn="l">
                        <a:spcBef>
                          <a:spcPts val="1125"/>
                        </a:spcBef>
                        <a:buNone/>
                      </a:pPr>
                      <a:r>
                        <a:rPr lang="en-IN" sz="1200" b="1" i="0" dirty="0">
                          <a:solidFill>
                            <a:srgbClr val="991B1B"/>
                          </a:solidFill>
                          <a:effectLst/>
                          <a:latin typeface="Segoe UI" panose="020B0502040204020203" pitchFamily="34" charset="0"/>
                        </a:rPr>
                        <a:t>2. Complex Regional Indic Scripts</a:t>
                      </a:r>
                      <a:br>
                        <a:rPr lang="en-IN" sz="1200" b="1" i="0" dirty="0">
                          <a:solidFill>
                            <a:srgbClr val="991B1B"/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IN" sz="1200" b="1" i="0" dirty="0">
                          <a:solidFill>
                            <a:srgbClr val="991B1B"/>
                          </a:solidFill>
                          <a:effectLst/>
                          <a:latin typeface="Segoe UI" panose="020B0502040204020203" pitchFamily="34" charset="0"/>
                        </a:rPr>
                        <a:t>Varied handwriting styles and regional dialects.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125"/>
                        </a:spcBef>
                        <a:buNone/>
                      </a:pPr>
                      <a:r>
                        <a:rPr lang="en-IN" sz="1200" b="1" i="0">
                          <a:solidFill>
                            <a:srgbClr val="065F46"/>
                          </a:solidFill>
                          <a:effectLst/>
                          <a:latin typeface="Segoe UI" panose="020B0502040204020203" pitchFamily="34" charset="0"/>
                        </a:rPr>
                        <a:t>HITL &amp; Active Learning:</a:t>
                      </a:r>
                      <a:r>
                        <a:rPr lang="en-IN" sz="1200" b="0" i="0">
                          <a:solidFill>
                            <a:srgbClr val="065F46"/>
                          </a:solidFill>
                          <a:effectLst/>
                          <a:latin typeface="Segoe UI" panose="020B0502040204020203" pitchFamily="34" charset="0"/>
                        </a:rPr>
                        <a:t> Low-confidence fields (&lt;80%) trigger human review; edits retrain AI models iteratively.</a:t>
                      </a: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3406403185"/>
                  </a:ext>
                </a:extLst>
              </a:tr>
              <a:tr h="851481">
                <a:tc>
                  <a:txBody>
                    <a:bodyPr/>
                    <a:lstStyle/>
                    <a:p>
                      <a:pPr algn="l">
                        <a:spcBef>
                          <a:spcPts val="1125"/>
                        </a:spcBef>
                        <a:buNone/>
                      </a:pPr>
                      <a:r>
                        <a:rPr lang="en-IN" sz="1200" b="1" i="0" dirty="0">
                          <a:solidFill>
                            <a:srgbClr val="991B1B"/>
                          </a:solidFill>
                          <a:effectLst/>
                          <a:latin typeface="Segoe UI" panose="020B0502040204020203" pitchFamily="34" charset="0"/>
                        </a:rPr>
                        <a:t>3. Data Security &amp; Record Tampering</a:t>
                      </a:r>
                      <a:br>
                        <a:rPr lang="en-IN" sz="1200" b="1" i="0" dirty="0">
                          <a:solidFill>
                            <a:srgbClr val="991B1B"/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IN" sz="1200" b="1" i="0" dirty="0">
                          <a:solidFill>
                            <a:srgbClr val="991B1B"/>
                          </a:solidFill>
                          <a:effectLst/>
                          <a:latin typeface="Segoe UI" panose="020B0502040204020203" pitchFamily="34" charset="0"/>
                        </a:rPr>
                        <a:t>Risk of unauthorized edit of sensitive land records.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125"/>
                        </a:spcBef>
                        <a:buNone/>
                      </a:pPr>
                      <a:r>
                        <a:rPr lang="en-IN" sz="1200" b="1" i="0" dirty="0">
                          <a:solidFill>
                            <a:srgbClr val="065F46"/>
                          </a:solidFill>
                          <a:effectLst/>
                          <a:latin typeface="Segoe UI" panose="020B0502040204020203" pitchFamily="34" charset="0"/>
                        </a:rPr>
                        <a:t>RBAC &amp; Immutable Audit Trail:</a:t>
                      </a:r>
                      <a:r>
                        <a:rPr lang="en-IN" sz="1200" b="0" i="0" dirty="0">
                          <a:solidFill>
                            <a:srgbClr val="065F46"/>
                          </a:solidFill>
                          <a:effectLst/>
                          <a:latin typeface="Segoe UI" panose="020B0502040204020203" pitchFamily="34" charset="0"/>
                        </a:rPr>
                        <a:t> AES-256 encryption, OAuth2 auth, and audit logs track every document view and edit.</a:t>
                      </a: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1268956594"/>
                  </a:ext>
                </a:extLst>
              </a:tr>
              <a:tr h="969449">
                <a:tc>
                  <a:txBody>
                    <a:bodyPr/>
                    <a:lstStyle/>
                    <a:p>
                      <a:pPr algn="l">
                        <a:spcBef>
                          <a:spcPts val="1125"/>
                        </a:spcBef>
                        <a:buNone/>
                      </a:pPr>
                      <a:r>
                        <a:rPr lang="en-IN" sz="1200" b="1" i="0" dirty="0">
                          <a:solidFill>
                            <a:srgbClr val="991B1B"/>
                          </a:solidFill>
                          <a:effectLst/>
                          <a:latin typeface="Segoe UI" panose="020B0502040204020203" pitchFamily="34" charset="0"/>
                        </a:rPr>
                        <a:t>4. Integration with Legacy Systems</a:t>
                      </a:r>
                      <a:br>
                        <a:rPr lang="en-IN" sz="1200" b="1" i="0" dirty="0">
                          <a:solidFill>
                            <a:srgbClr val="991B1B"/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IN" sz="1200" b="1" i="0" dirty="0">
                          <a:solidFill>
                            <a:srgbClr val="991B1B"/>
                          </a:solidFill>
                          <a:effectLst/>
                          <a:latin typeface="Segoe UI" panose="020B0502040204020203" pitchFamily="34" charset="0"/>
                        </a:rPr>
                        <a:t>Inconsistent API schemas across state LRMS portals.</a:t>
                      </a:r>
                    </a:p>
                  </a:txBody>
                  <a:tcPr marT="76200" marB="7620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125"/>
                        </a:spcBef>
                        <a:buNone/>
                      </a:pPr>
                      <a:r>
                        <a:rPr lang="en-IN" sz="1200" b="1" i="0" dirty="0">
                          <a:solidFill>
                            <a:srgbClr val="065F46"/>
                          </a:solidFill>
                          <a:effectLst/>
                          <a:latin typeface="Segoe UI" panose="020B0502040204020203" pitchFamily="34" charset="0"/>
                        </a:rPr>
                        <a:t>Modular REST API &amp; Adapters:</a:t>
                      </a:r>
                      <a:r>
                        <a:rPr lang="en-IN" sz="1200" b="0" i="0" dirty="0">
                          <a:solidFill>
                            <a:srgbClr val="065F46"/>
                          </a:solidFill>
                          <a:effectLst/>
                          <a:latin typeface="Segoe UI" panose="020B0502040204020203" pitchFamily="34" charset="0"/>
                        </a:rPr>
                        <a:t> Standardized API abstraction layer for plug-and-play integration with DILRMP/GIS.</a:t>
                      </a:r>
                    </a:p>
                  </a:txBody>
                  <a:tcPr marT="76200" marB="76200" anchor="ctr"/>
                </a:tc>
                <a:extLst>
                  <a:ext uri="{0D108BD9-81ED-4DB2-BD59-A6C34878D82A}">
                    <a16:rowId xmlns:a16="http://schemas.microsoft.com/office/drawing/2014/main" val="241458013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03EAB74-A8F0-EB7A-8F1B-E0F8426E3F6B}"/>
              </a:ext>
            </a:extLst>
          </p:cNvPr>
          <p:cNvSpPr/>
          <p:nvPr/>
        </p:nvSpPr>
        <p:spPr>
          <a:xfrm>
            <a:off x="162062" y="1649897"/>
            <a:ext cx="5135495" cy="88329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82D4D9-5CE4-D474-C7B1-6A321AF033CC}"/>
              </a:ext>
            </a:extLst>
          </p:cNvPr>
          <p:cNvSpPr txBox="1"/>
          <p:nvPr/>
        </p:nvSpPr>
        <p:spPr>
          <a:xfrm>
            <a:off x="163318" y="1668574"/>
            <a:ext cx="1991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Technical Feasibility: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F04DE-E46E-87BB-3F70-D43D809EFD73}"/>
              </a:ext>
            </a:extLst>
          </p:cNvPr>
          <p:cNvSpPr txBox="1"/>
          <p:nvPr/>
        </p:nvSpPr>
        <p:spPr>
          <a:xfrm>
            <a:off x="290302" y="1893517"/>
            <a:ext cx="4589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Built on proven open-source AI frameworks</a:t>
            </a:r>
            <a:r>
              <a:rPr lang="en-IN" b="1" dirty="0"/>
              <a:t> (</a:t>
            </a:r>
            <a:r>
              <a:rPr lang="en-IN" b="1" dirty="0" err="1"/>
              <a:t>TrOCR</a:t>
            </a:r>
            <a:r>
              <a:rPr lang="en-IN" b="1" dirty="0"/>
              <a:t>, </a:t>
            </a:r>
          </a:p>
          <a:p>
            <a:r>
              <a:rPr lang="en-IN" b="1" dirty="0"/>
              <a:t>LayoutLMv3, OpenCV)</a:t>
            </a:r>
            <a:r>
              <a:rPr lang="en-IN" dirty="0"/>
              <a:t> and scalable spatial databases</a:t>
            </a:r>
            <a:endParaRPr lang="en-IN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03C671-8983-121D-941F-EDC7F2519FB7}"/>
              </a:ext>
            </a:extLst>
          </p:cNvPr>
          <p:cNvSpPr/>
          <p:nvPr/>
        </p:nvSpPr>
        <p:spPr>
          <a:xfrm>
            <a:off x="162062" y="2763078"/>
            <a:ext cx="5133136" cy="88329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4BE4D3-ECB4-52B1-63D3-E0CBA4448A40}"/>
              </a:ext>
            </a:extLst>
          </p:cNvPr>
          <p:cNvSpPr txBox="1"/>
          <p:nvPr/>
        </p:nvSpPr>
        <p:spPr>
          <a:xfrm>
            <a:off x="188164" y="2781043"/>
            <a:ext cx="1941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Financial Feasibility:</a:t>
            </a:r>
          </a:p>
          <a:p>
            <a:endParaRPr lang="en-IN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16DA40-9B9F-19E4-E1AD-3AA5B5153E5C}"/>
              </a:ext>
            </a:extLst>
          </p:cNvPr>
          <p:cNvSpPr txBox="1"/>
          <p:nvPr/>
        </p:nvSpPr>
        <p:spPr>
          <a:xfrm>
            <a:off x="290302" y="3010926"/>
            <a:ext cx="5004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Reduces manual digitization turnaround and costs by &gt;</a:t>
            </a:r>
            <a:r>
              <a:rPr lang="en-IN" b="1" dirty="0"/>
              <a:t>80%</a:t>
            </a:r>
            <a:r>
              <a:rPr lang="en-IN" dirty="0"/>
              <a:t>, </a:t>
            </a:r>
          </a:p>
          <a:p>
            <a:r>
              <a:rPr lang="en-IN" dirty="0"/>
              <a:t>offering high ROI for government departments.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ED54ED-6135-DC4F-BCE1-38FC6C81B392}"/>
              </a:ext>
            </a:extLst>
          </p:cNvPr>
          <p:cNvSpPr/>
          <p:nvPr/>
        </p:nvSpPr>
        <p:spPr>
          <a:xfrm>
            <a:off x="162062" y="3916017"/>
            <a:ext cx="5133136" cy="88095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12CFF-C206-3AC0-056D-DD0DE7C354EE}"/>
              </a:ext>
            </a:extLst>
          </p:cNvPr>
          <p:cNvSpPr txBox="1"/>
          <p:nvPr/>
        </p:nvSpPr>
        <p:spPr>
          <a:xfrm>
            <a:off x="188164" y="3964425"/>
            <a:ext cx="21611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Operational Feasibility: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08BF1D-8E33-86EE-974E-566D549A62EB}"/>
              </a:ext>
            </a:extLst>
          </p:cNvPr>
          <p:cNvSpPr txBox="1"/>
          <p:nvPr/>
        </p:nvSpPr>
        <p:spPr>
          <a:xfrm>
            <a:off x="290302" y="4178322"/>
            <a:ext cx="4859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Integrates into revenue workflows with Human-in-the-Loop </a:t>
            </a:r>
          </a:p>
          <a:p>
            <a:r>
              <a:rPr lang="en-IN" b="1" dirty="0"/>
              <a:t>(HITL) </a:t>
            </a:r>
            <a:r>
              <a:rPr lang="en-IN" dirty="0"/>
              <a:t>review safety net for zero-error guarantees.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BA02D0-2562-24B0-0E8B-F0B11BA3CA74}"/>
              </a:ext>
            </a:extLst>
          </p:cNvPr>
          <p:cNvSpPr/>
          <p:nvPr/>
        </p:nvSpPr>
        <p:spPr>
          <a:xfrm>
            <a:off x="162062" y="5059272"/>
            <a:ext cx="5159238" cy="81686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1D7DB4-3E4B-355B-19C8-7993EAE1BC11}"/>
              </a:ext>
            </a:extLst>
          </p:cNvPr>
          <p:cNvSpPr txBox="1"/>
          <p:nvPr/>
        </p:nvSpPr>
        <p:spPr>
          <a:xfrm>
            <a:off x="188164" y="5099177"/>
            <a:ext cx="1696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Policy Alignment</a:t>
            </a:r>
            <a:r>
              <a:rPr lang="en-IN" b="1" dirty="0"/>
              <a:t>: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B6AD63-FDA5-5DC1-B368-B1AA17726065}"/>
              </a:ext>
            </a:extLst>
          </p:cNvPr>
          <p:cNvSpPr txBox="1"/>
          <p:nvPr/>
        </p:nvSpPr>
        <p:spPr>
          <a:xfrm>
            <a:off x="290302" y="5330622"/>
            <a:ext cx="4953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100% compliant with </a:t>
            </a:r>
            <a:r>
              <a:rPr lang="en-IN" b="1" dirty="0"/>
              <a:t>DILRMP, NGDRS, and Bhu-Aadhaar </a:t>
            </a:r>
          </a:p>
          <a:p>
            <a:r>
              <a:rPr lang="en-IN" b="1" dirty="0"/>
              <a:t>(ULPIN) </a:t>
            </a:r>
            <a:r>
              <a:rPr lang="en-IN" dirty="0"/>
              <a:t>national land modernization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>
            <a:spLocks noGrp="1"/>
          </p:cNvSpPr>
          <p:nvPr>
            <p:ph type="title"/>
          </p:nvPr>
        </p:nvSpPr>
        <p:spPr>
          <a:xfrm>
            <a:off x="763800" y="-38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dirty="0"/>
          </a:p>
        </p:txBody>
      </p:sp>
      <p:sp>
        <p:nvSpPr>
          <p:cNvPr id="151" name="Google Shape;151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5" descr="Your startup LOGO"/>
          <p:cNvSpPr/>
          <p:nvPr/>
        </p:nvSpPr>
        <p:spPr>
          <a:xfrm>
            <a:off x="162064" y="103648"/>
            <a:ext cx="1667992" cy="960189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TerraVault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BB40F1-D610-7072-8F91-D9198282EC30}"/>
              </a:ext>
            </a:extLst>
          </p:cNvPr>
          <p:cNvSpPr txBox="1"/>
          <p:nvPr/>
        </p:nvSpPr>
        <p:spPr>
          <a:xfrm>
            <a:off x="0" y="1104123"/>
            <a:ext cx="4713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Potential Impact on Target Audience: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0CAC2-25A2-8B18-C974-2525F5C061B1}"/>
              </a:ext>
            </a:extLst>
          </p:cNvPr>
          <p:cNvSpPr txBox="1"/>
          <p:nvPr/>
        </p:nvSpPr>
        <p:spPr>
          <a:xfrm>
            <a:off x="162064" y="1688285"/>
            <a:ext cx="27238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dirty="0">
                <a:solidFill>
                  <a:schemeClr val="bg2"/>
                </a:solidFill>
              </a:rPr>
              <a:t>Citizens &amp; Rural Landowners: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446269-58B0-DACD-D5CF-1CCC5F0FA93D}"/>
              </a:ext>
            </a:extLst>
          </p:cNvPr>
          <p:cNvSpPr txBox="1"/>
          <p:nvPr/>
        </p:nvSpPr>
        <p:spPr>
          <a:xfrm>
            <a:off x="341948" y="2003452"/>
            <a:ext cx="554510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b="1" dirty="0"/>
              <a:t>Instant Digital Access:</a:t>
            </a:r>
            <a:r>
              <a:rPr lang="en-IN" dirty="0"/>
              <a:t> 1-click retrieval of verified 7/12, </a:t>
            </a:r>
            <a:r>
              <a:rPr lang="en-IN" dirty="0" err="1"/>
              <a:t>Khasra</a:t>
            </a:r>
            <a:r>
              <a:rPr lang="en-IN" dirty="0"/>
              <a:t>, </a:t>
            </a:r>
          </a:p>
          <a:p>
            <a:pPr lvl="0"/>
            <a:r>
              <a:rPr lang="en-IN" dirty="0"/>
              <a:t>and </a:t>
            </a:r>
            <a:r>
              <a:rPr lang="en-IN" dirty="0" err="1"/>
              <a:t>Khatauni</a:t>
            </a:r>
            <a:r>
              <a:rPr lang="en-IN" dirty="0"/>
              <a:t> land records.</a:t>
            </a:r>
          </a:p>
          <a:p>
            <a:pPr lvl="0"/>
            <a:r>
              <a:rPr lang="en-IN" b="1" dirty="0"/>
              <a:t>Empowerment &amp; Dispute Reduction:</a:t>
            </a:r>
            <a:r>
              <a:rPr lang="en-IN" dirty="0"/>
              <a:t> Transparent title ownership </a:t>
            </a:r>
          </a:p>
          <a:p>
            <a:pPr lvl="0"/>
            <a:r>
              <a:rPr lang="en-IN" dirty="0"/>
              <a:t>protects farmers from land grabbing and lengthy legal disputes.</a:t>
            </a:r>
          </a:p>
          <a:p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E1E9E-1B32-C37F-0339-AEC9060E813D}"/>
              </a:ext>
            </a:extLst>
          </p:cNvPr>
          <p:cNvSpPr/>
          <p:nvPr/>
        </p:nvSpPr>
        <p:spPr>
          <a:xfrm>
            <a:off x="162064" y="1632567"/>
            <a:ext cx="5791475" cy="1408807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64C159-CCB8-5834-970E-0B578A368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818" y="1470989"/>
            <a:ext cx="6028118" cy="43719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50922E-2C3F-8B8F-F636-A3D2C75BED57}"/>
              </a:ext>
            </a:extLst>
          </p:cNvPr>
          <p:cNvSpPr txBox="1"/>
          <p:nvPr/>
        </p:nvSpPr>
        <p:spPr>
          <a:xfrm>
            <a:off x="162062" y="3256252"/>
            <a:ext cx="411362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dirty="0">
                <a:solidFill>
                  <a:schemeClr val="bg2"/>
                </a:solidFill>
              </a:rPr>
              <a:t>Land Revenue Department (</a:t>
            </a:r>
            <a:r>
              <a:rPr lang="en-IN" sz="1500" dirty="0" err="1">
                <a:solidFill>
                  <a:schemeClr val="bg2"/>
                </a:solidFill>
              </a:rPr>
              <a:t>DoLR</a:t>
            </a:r>
            <a:r>
              <a:rPr lang="en-IN" sz="1500" dirty="0">
                <a:solidFill>
                  <a:schemeClr val="bg2"/>
                </a:solidFill>
              </a:rPr>
              <a:t> / DILRMP):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E16CF0-08EC-D5CE-8A87-956B3EA694F9}"/>
              </a:ext>
            </a:extLst>
          </p:cNvPr>
          <p:cNvSpPr txBox="1"/>
          <p:nvPr/>
        </p:nvSpPr>
        <p:spPr>
          <a:xfrm>
            <a:off x="397457" y="3528517"/>
            <a:ext cx="53206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b="1" dirty="0"/>
              <a:t>85%+ Reduction in Turnaround Time:</a:t>
            </a:r>
            <a:r>
              <a:rPr lang="en-IN" dirty="0"/>
              <a:t> Eliminates manual data </a:t>
            </a:r>
          </a:p>
          <a:p>
            <a:pPr lvl="0"/>
            <a:r>
              <a:rPr lang="en-IN" dirty="0"/>
              <a:t>entry backlogs across revenue offices.</a:t>
            </a:r>
          </a:p>
          <a:p>
            <a:pPr lvl="0"/>
            <a:r>
              <a:rPr lang="en-IN" b="1" dirty="0"/>
              <a:t>Zero-Error Data Accuracy:</a:t>
            </a:r>
            <a:r>
              <a:rPr lang="en-IN" dirty="0"/>
              <a:t> </a:t>
            </a:r>
            <a:r>
              <a:rPr lang="en-IN" b="1" dirty="0"/>
              <a:t>99.5%+ accuracy</a:t>
            </a:r>
            <a:r>
              <a:rPr lang="en-IN" dirty="0"/>
              <a:t> guaranteed via </a:t>
            </a:r>
          </a:p>
          <a:p>
            <a:pPr lvl="0"/>
            <a:r>
              <a:rPr lang="en-IN" dirty="0"/>
              <a:t>Human-in-the-Loop AI verification.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F64D07-C4B9-02D0-32E5-594CE281466F}"/>
              </a:ext>
            </a:extLst>
          </p:cNvPr>
          <p:cNvSpPr txBox="1"/>
          <p:nvPr/>
        </p:nvSpPr>
        <p:spPr>
          <a:xfrm>
            <a:off x="113785" y="4830565"/>
            <a:ext cx="28023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 </a:t>
            </a:r>
            <a:r>
              <a:rPr lang="en-IN" sz="1500" dirty="0">
                <a:solidFill>
                  <a:schemeClr val="bg2"/>
                </a:solidFill>
              </a:rPr>
              <a:t>Banks &amp; Financial Institutions: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4F78FC-F576-C61C-8D82-A4416F15B7CD}"/>
              </a:ext>
            </a:extLst>
          </p:cNvPr>
          <p:cNvSpPr txBox="1"/>
          <p:nvPr/>
        </p:nvSpPr>
        <p:spPr>
          <a:xfrm>
            <a:off x="293670" y="5138342"/>
            <a:ext cx="517802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Rapid Collateral Verification:</a:t>
            </a:r>
            <a:r>
              <a:rPr lang="en-IN" dirty="0"/>
              <a:t> Instant verification of land titles </a:t>
            </a:r>
          </a:p>
          <a:p>
            <a:r>
              <a:rPr lang="en-IN" dirty="0"/>
              <a:t>speeds up agricultural and property loan approvals.</a:t>
            </a:r>
          </a:p>
          <a:p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DA0CDB-B9AD-2580-7C20-83BA19FA0C99}"/>
              </a:ext>
            </a:extLst>
          </p:cNvPr>
          <p:cNvSpPr/>
          <p:nvPr/>
        </p:nvSpPr>
        <p:spPr>
          <a:xfrm>
            <a:off x="162064" y="3185920"/>
            <a:ext cx="5791475" cy="1400614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06A65F-A245-F9ED-3B74-FDB6220665D6}"/>
              </a:ext>
            </a:extLst>
          </p:cNvPr>
          <p:cNvSpPr/>
          <p:nvPr/>
        </p:nvSpPr>
        <p:spPr>
          <a:xfrm>
            <a:off x="162064" y="4770341"/>
            <a:ext cx="5791475" cy="1043919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>
            <a:spLocks noGrp="1"/>
          </p:cNvSpPr>
          <p:nvPr>
            <p:ph type="title"/>
          </p:nvPr>
        </p:nvSpPr>
        <p:spPr>
          <a:xfrm>
            <a:off x="609600" y="15737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dirty="0"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5" name="Google Shape;165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6" name="Google Shape;166;p6" descr="Your startup LOGO"/>
          <p:cNvSpPr/>
          <p:nvPr/>
        </p:nvSpPr>
        <p:spPr>
          <a:xfrm>
            <a:off x="162064" y="157375"/>
            <a:ext cx="1677931" cy="90220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TerraVault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FA0340-D8FA-13A7-567D-5B2B01145078}"/>
              </a:ext>
            </a:extLst>
          </p:cNvPr>
          <p:cNvSpPr txBox="1"/>
          <p:nvPr/>
        </p:nvSpPr>
        <p:spPr>
          <a:xfrm>
            <a:off x="0" y="1268907"/>
            <a:ext cx="53783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/>
              <a:t> </a:t>
            </a:r>
            <a:r>
              <a:rPr lang="en-IN" sz="1800" b="1" dirty="0">
                <a:solidFill>
                  <a:schemeClr val="bg2"/>
                </a:solidFill>
              </a:rPr>
              <a:t>Government Frameworks &amp; Official Standards:</a:t>
            </a:r>
            <a:endParaRPr lang="en-IN" sz="1800" dirty="0">
              <a:solidFill>
                <a:schemeClr val="bg2"/>
              </a:solidFill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876FB1-BF33-0D46-EAB8-6E0C8CA0DBC8}"/>
              </a:ext>
            </a:extLst>
          </p:cNvPr>
          <p:cNvSpPr txBox="1"/>
          <p:nvPr/>
        </p:nvSpPr>
        <p:spPr>
          <a:xfrm>
            <a:off x="357810" y="1699793"/>
            <a:ext cx="5814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dirty="0"/>
              <a:t>❖ </a:t>
            </a:r>
            <a:r>
              <a:rPr lang="en-IN" b="1" dirty="0"/>
              <a:t>Digital India Land Records Modernization Programme (DILRMP)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3CFB4-39D7-C77F-2A83-179D974E1C4D}"/>
              </a:ext>
            </a:extLst>
          </p:cNvPr>
          <p:cNvSpPr txBox="1"/>
          <p:nvPr/>
        </p:nvSpPr>
        <p:spPr>
          <a:xfrm>
            <a:off x="637995" y="1991490"/>
            <a:ext cx="4740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Department of Land Resources (</a:t>
            </a:r>
            <a:r>
              <a:rPr lang="en-IN" dirty="0" err="1"/>
              <a:t>DoLR</a:t>
            </a:r>
            <a:r>
              <a:rPr lang="en-IN" dirty="0"/>
              <a:t>), Ministry of Rural </a:t>
            </a:r>
          </a:p>
          <a:p>
            <a:r>
              <a:rPr lang="en-IN" dirty="0"/>
              <a:t>Development — </a:t>
            </a:r>
            <a:r>
              <a:rPr lang="en-IN" dirty="0">
                <a:hlinkClick r:id="rId4"/>
              </a:rPr>
              <a:t>https://dilrmp.gov.in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78ECF-6758-5348-2CAD-D652862F522B}"/>
              </a:ext>
            </a:extLst>
          </p:cNvPr>
          <p:cNvSpPr txBox="1"/>
          <p:nvPr/>
        </p:nvSpPr>
        <p:spPr>
          <a:xfrm>
            <a:off x="339034" y="2575414"/>
            <a:ext cx="5338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National Generic Document Registration System (NGDRS)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920E2D-CC83-04CD-435F-5EBA639FF170}"/>
              </a:ext>
            </a:extLst>
          </p:cNvPr>
          <p:cNvSpPr txBox="1"/>
          <p:nvPr/>
        </p:nvSpPr>
        <p:spPr>
          <a:xfrm>
            <a:off x="637995" y="2882272"/>
            <a:ext cx="5129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Centralized Property Registration Portal — </a:t>
            </a:r>
            <a:r>
              <a:rPr lang="en-IN" dirty="0">
                <a:hlinkClick r:id="rId5"/>
              </a:rPr>
              <a:t>https://ngdrs.gov.in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51A00B-16E5-C9F6-03DD-8243D4693F41}"/>
              </a:ext>
            </a:extLst>
          </p:cNvPr>
          <p:cNvSpPr txBox="1"/>
          <p:nvPr/>
        </p:nvSpPr>
        <p:spPr>
          <a:xfrm>
            <a:off x="339034" y="3256978"/>
            <a:ext cx="5931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Unique Land Parcel Identification Number (ULPIN / Bhu-Aadhaar)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FB680F-3A57-1451-82D5-74747DE29930}"/>
              </a:ext>
            </a:extLst>
          </p:cNvPr>
          <p:cNvSpPr txBox="1"/>
          <p:nvPr/>
        </p:nvSpPr>
        <p:spPr>
          <a:xfrm>
            <a:off x="609600" y="3563836"/>
            <a:ext cx="50321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 err="1"/>
              <a:t>DoLR</a:t>
            </a:r>
            <a:r>
              <a:rPr lang="en-IN" i="1" dirty="0"/>
              <a:t> Technical Guidelines &amp; Spatial Mapping Standards for </a:t>
            </a:r>
          </a:p>
          <a:p>
            <a:r>
              <a:rPr lang="en-IN" i="1" dirty="0"/>
              <a:t>14-Digit Land Parcel IDs</a:t>
            </a:r>
            <a:endParaRPr lang="en-IN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B410EA-B95B-935D-4855-5D4C4296E5D9}"/>
              </a:ext>
            </a:extLst>
          </p:cNvPr>
          <p:cNvSpPr txBox="1"/>
          <p:nvPr/>
        </p:nvSpPr>
        <p:spPr>
          <a:xfrm>
            <a:off x="357810" y="4123387"/>
            <a:ext cx="3358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ISRO Bhuvan Geo-Spatial Platform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4BC869-0870-5A7B-8941-5CA06150E867}"/>
              </a:ext>
            </a:extLst>
          </p:cNvPr>
          <p:cNvSpPr txBox="1"/>
          <p:nvPr/>
        </p:nvSpPr>
        <p:spPr>
          <a:xfrm>
            <a:off x="609600" y="4438308"/>
            <a:ext cx="3767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Indian Space Research Organisation (ISRO) </a:t>
            </a:r>
          </a:p>
          <a:p>
            <a:r>
              <a:rPr lang="en-IN" dirty="0"/>
              <a:t>Land Portal — </a:t>
            </a:r>
            <a:r>
              <a:rPr lang="en-IN" dirty="0">
                <a:hlinkClick r:id="rId6"/>
              </a:rPr>
              <a:t>https://bhuvan.nrsc.gov.in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2540EE-FE85-F3F8-B678-F1E27BF7FA9F}"/>
              </a:ext>
            </a:extLst>
          </p:cNvPr>
          <p:cNvSpPr/>
          <p:nvPr/>
        </p:nvSpPr>
        <p:spPr>
          <a:xfrm>
            <a:off x="79513" y="1172817"/>
            <a:ext cx="6092709" cy="479110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79207-9797-A138-4D68-6C27E29A6537}"/>
              </a:ext>
            </a:extLst>
          </p:cNvPr>
          <p:cNvSpPr txBox="1"/>
          <p:nvPr/>
        </p:nvSpPr>
        <p:spPr>
          <a:xfrm>
            <a:off x="6250200" y="1268907"/>
            <a:ext cx="5511445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700" b="1" dirty="0"/>
              <a:t> </a:t>
            </a:r>
            <a:r>
              <a:rPr lang="en-IN" sz="1700" b="1" dirty="0">
                <a:solidFill>
                  <a:schemeClr val="bg2"/>
                </a:solidFill>
              </a:rPr>
              <a:t>Core AI, Computer Vision &amp; NLP Research Papers:</a:t>
            </a:r>
            <a:endParaRPr lang="en-IN" sz="1700" dirty="0">
              <a:solidFill>
                <a:schemeClr val="bg2"/>
              </a:solidFill>
            </a:endParaRP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2DC8B9-F96B-2F33-1C89-53C799B8BF80}"/>
              </a:ext>
            </a:extLst>
          </p:cNvPr>
          <p:cNvSpPr txBox="1"/>
          <p:nvPr/>
        </p:nvSpPr>
        <p:spPr>
          <a:xfrm>
            <a:off x="6539949" y="1677438"/>
            <a:ext cx="5396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 err="1"/>
              <a:t>TrOCR</a:t>
            </a:r>
            <a:r>
              <a:rPr lang="en-IN" b="1" dirty="0"/>
              <a:t> (Transformer-based Optical Character Recognition)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7084B0-0AEC-0A90-7B32-7E9463B56CDF}"/>
              </a:ext>
            </a:extLst>
          </p:cNvPr>
          <p:cNvSpPr txBox="1"/>
          <p:nvPr/>
        </p:nvSpPr>
        <p:spPr>
          <a:xfrm>
            <a:off x="7019246" y="1935493"/>
            <a:ext cx="43877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dirty="0"/>
              <a:t>Microsoft Research (arXiv:2109.10282)</a:t>
            </a:r>
          </a:p>
          <a:p>
            <a:pPr lvl="0"/>
            <a:r>
              <a:rPr lang="en-IN" dirty="0"/>
              <a:t>📄 End-to-end transformer architecture for printed &amp; </a:t>
            </a:r>
          </a:p>
          <a:p>
            <a:pPr lvl="0"/>
            <a:r>
              <a:rPr lang="en-IN" dirty="0"/>
              <a:t>  Handwritten Indic text recognition.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B5EB72-FD86-F3BB-2E72-E43FF1372CC2}"/>
              </a:ext>
            </a:extLst>
          </p:cNvPr>
          <p:cNvSpPr txBox="1"/>
          <p:nvPr/>
        </p:nvSpPr>
        <p:spPr>
          <a:xfrm>
            <a:off x="6539949" y="2725178"/>
            <a:ext cx="50449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LayoutLMv3 (Multimodal Pre-training for Document AI)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0D10BD-2EA2-269B-966B-7AD1519F1A01}"/>
              </a:ext>
            </a:extLst>
          </p:cNvPr>
          <p:cNvSpPr txBox="1"/>
          <p:nvPr/>
        </p:nvSpPr>
        <p:spPr>
          <a:xfrm>
            <a:off x="7052431" y="2990520"/>
            <a:ext cx="44518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dirty="0"/>
              <a:t>Microsoft Research (arXiv:2204.08387)</a:t>
            </a:r>
          </a:p>
          <a:p>
            <a:pPr lvl="0"/>
            <a:r>
              <a:rPr lang="en-IN" dirty="0"/>
              <a:t>📄 Multimodal text &amp; visual layout parsing for </a:t>
            </a:r>
            <a:r>
              <a:rPr lang="en-IN" dirty="0" err="1"/>
              <a:t>Khasra</a:t>
            </a:r>
            <a:r>
              <a:rPr lang="en-IN" dirty="0"/>
              <a:t>,</a:t>
            </a:r>
          </a:p>
          <a:p>
            <a:pPr lvl="0"/>
            <a:r>
              <a:rPr lang="en-IN" dirty="0"/>
              <a:t> </a:t>
            </a:r>
            <a:r>
              <a:rPr lang="en-IN" dirty="0" err="1"/>
              <a:t>Khatauni</a:t>
            </a:r>
            <a:r>
              <a:rPr lang="en-IN" dirty="0"/>
              <a:t> &amp; cadastral documents.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B622C4-1DF9-5191-29C3-24D094C5C797}"/>
              </a:ext>
            </a:extLst>
          </p:cNvPr>
          <p:cNvSpPr txBox="1"/>
          <p:nvPr/>
        </p:nvSpPr>
        <p:spPr>
          <a:xfrm>
            <a:off x="6539949" y="3825046"/>
            <a:ext cx="38427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Indic-BERT &amp; </a:t>
            </a:r>
            <a:r>
              <a:rPr lang="en-IN" b="1" dirty="0" err="1"/>
              <a:t>IndicNLP</a:t>
            </a:r>
            <a:r>
              <a:rPr lang="en-IN" b="1" dirty="0"/>
              <a:t> Language Suites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E6936-5157-927F-813E-93229BEFCF56}"/>
              </a:ext>
            </a:extLst>
          </p:cNvPr>
          <p:cNvSpPr txBox="1"/>
          <p:nvPr/>
        </p:nvSpPr>
        <p:spPr>
          <a:xfrm>
            <a:off x="7052431" y="4123387"/>
            <a:ext cx="48077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dirty="0"/>
              <a:t>AI4Bharat, IIT Madras — 🌐 Website: </a:t>
            </a:r>
            <a:r>
              <a:rPr lang="en-IN" dirty="0">
                <a:hlinkClick r:id="rId7"/>
              </a:rPr>
              <a:t>ai4bharat.org</a:t>
            </a:r>
            <a:endParaRPr lang="en-IN" dirty="0"/>
          </a:p>
          <a:p>
            <a:pPr lvl="0"/>
            <a:r>
              <a:rPr lang="en-IN" dirty="0"/>
              <a:t>📄 Multilingual natural language processing supporting 22</a:t>
            </a:r>
          </a:p>
          <a:p>
            <a:pPr lvl="0"/>
            <a:r>
              <a:rPr lang="en-IN" dirty="0"/>
              <a:t> regional Indian languages.</a:t>
            </a:r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CCD8C7-860B-93F5-8454-5D52C5989F82}"/>
              </a:ext>
            </a:extLst>
          </p:cNvPr>
          <p:cNvSpPr txBox="1"/>
          <p:nvPr/>
        </p:nvSpPr>
        <p:spPr>
          <a:xfrm>
            <a:off x="6539949" y="4850922"/>
            <a:ext cx="55162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❖ </a:t>
            </a:r>
            <a:r>
              <a:rPr lang="en-IN" b="1" dirty="0"/>
              <a:t>Real-ESRGAN (Super-Resolution for Document Restoration)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F79528-3F9A-25AB-2839-DA01D5110AD9}"/>
              </a:ext>
            </a:extLst>
          </p:cNvPr>
          <p:cNvSpPr txBox="1"/>
          <p:nvPr/>
        </p:nvSpPr>
        <p:spPr>
          <a:xfrm>
            <a:off x="7052431" y="5195585"/>
            <a:ext cx="47772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dirty="0"/>
              <a:t>Tencent ARC (arXiv:2107.10833)</a:t>
            </a:r>
          </a:p>
          <a:p>
            <a:pPr lvl="0"/>
            <a:r>
              <a:rPr lang="en-IN" dirty="0"/>
              <a:t>📄 Generative AI model for restoring faded ink, removing </a:t>
            </a:r>
          </a:p>
          <a:p>
            <a:pPr lvl="0"/>
            <a:r>
              <a:rPr lang="en-IN" dirty="0"/>
              <a:t>paper noise &amp; enhancing illegible registers.</a:t>
            </a:r>
          </a:p>
          <a:p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DA66AB-B19E-6A72-53CF-3D8548C6551A}"/>
              </a:ext>
            </a:extLst>
          </p:cNvPr>
          <p:cNvSpPr/>
          <p:nvPr/>
        </p:nvSpPr>
        <p:spPr>
          <a:xfrm>
            <a:off x="6326407" y="1172817"/>
            <a:ext cx="5703529" cy="479110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1023</Words>
  <Application>Microsoft Office PowerPoint</Application>
  <PresentationFormat>Widescreen</PresentationFormat>
  <Paragraphs>149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Times New Roman</vt:lpstr>
      <vt:lpstr>Segoe UI</vt:lpstr>
      <vt:lpstr>Arial</vt:lpstr>
      <vt:lpstr>Calibri</vt:lpstr>
      <vt:lpstr>Garamond</vt:lpstr>
      <vt:lpstr>Oswald</vt:lpstr>
      <vt:lpstr>Aptos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Kamalesh5781@outlook.com</cp:lastModifiedBy>
  <cp:revision>1</cp:revision>
  <dcterms:created xsi:type="dcterms:W3CDTF">2013-12-12T18:46:50Z</dcterms:created>
  <dcterms:modified xsi:type="dcterms:W3CDTF">2026-09-06T17:49:05Z</dcterms:modified>
</cp:coreProperties>
</file>